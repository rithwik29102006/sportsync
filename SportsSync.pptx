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g"/>
  <Default Extension="png" ContentType="image/png"/>
  <Default Extension="bmp" ContentType="image/bmp"/>
  <Default Extension="gif" ContentType="image/gif"/>
  <Default Extension="tif" ContentType="image/tif"/>
  <Default Extension="pdf" ContentType="application/pdf"/>
  <Default Extension="mov" ContentType="application/movie"/>
  <Default Extension="vml" ContentType="application/vnd.openxmlformats-officedocument.vmlDrawing"/>
  <Default Extension="xlsx" ContentType="application/vnd.openxmlformats-officedocument.spreadsheetml.shee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commentAuthors.xml" ContentType="application/vnd.openxmlformats-officedocument.presentationml.commentAuthors+xml"/>
  <Override PartName="/ppt/tableStyles.xml" ContentType="application/vnd.openxmlformats-officedocument.presentationml.tableStyle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Layouts/slideLayout1.xml" ContentType="application/vnd.openxmlformats-officedocument.presentationml.slideLayout+xml"/>
  <Override PartName="/ppt/theme/theme2.xml" ContentType="application/vnd.openxmlformats-officedocument.them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ldMasterIdLst>
    <p:sldMasterId id="2147483648" r:id="rId5"/>
  </p:sldMasterIdLst>
  <p:notesMasterIdLst>
    <p:notesMasterId r:id="rId7"/>
  </p:notesMasterIdLst>
  <p:sldIdLst>
    <p:sldId id="256" r:id="rId8"/>
    <p:sldId id="257" r:id="rId9"/>
    <p:sldId id="258" r:id="rId10"/>
    <p:sldId id="259" r:id="rId11"/>
  </p:sldIdLst>
  <p:sldSz cx="9144000" cy="51435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b="0" baseline="0" cap="none" i="0" spc="0" strike="noStrike" sz="1800" u="none" kumimoji="0" normalizeH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/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showPr loop="0"/>
</p:presentationPr>
</file>

<file path=ppt/tableStyles.xml><?xml version="1.0" encoding="utf-8"?>
<a:tblStyleLst xmlns:a="http://schemas.openxmlformats.org/drawingml/2006/main" xmlns:r="http://schemas.openxmlformats.org/officeDocument/2006/relationships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 b="def" i="def"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 b="def" i="def"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 b="def" i="def"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 b="def" i="def"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 b="def" i="def"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Comments="1"/>
</file>

<file path=ppt/_rels/presentation.xml.rels><?xml version="1.0" encoding="UTF-8"?>
<Relationships xmlns="http://schemas.openxmlformats.org/package/2006/relationships"><Relationship Id="rId1" Type="http://schemas.openxmlformats.org/officeDocument/2006/relationships/presProps" Target="presProps.xml"/><Relationship Id="rId2" Type="http://schemas.openxmlformats.org/officeDocument/2006/relationships/viewProps" Target="viewProps.xml"/><Relationship Id="rId3" Type="http://schemas.openxmlformats.org/officeDocument/2006/relationships/commentAuthors" Target="commentAuthors.xml"/><Relationship Id="rId4" Type="http://schemas.openxmlformats.org/officeDocument/2006/relationships/tableStyles" Target="tableStyles.xml"/><Relationship Id="rId5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7" Type="http://schemas.openxmlformats.org/officeDocument/2006/relationships/notesMaster" Target="notesMasters/notesMaster1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/Relationships>
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2.xml"/></Relationships>
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Shape 17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  <p:sp>
        <p:nvSpPr>
          <p:cNvPr id="18" name="Shape 18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p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n-lt"/>
        <a:ea typeface="+mn-ea"/>
        <a:cs typeface="+mn-cs"/>
        <a:sym typeface="Calibri"/>
      </a:defRPr>
    </a:lvl1pPr>
    <a:lvl2pPr indent="228600" latinLnBrk="0">
      <a:defRPr sz="1200">
        <a:latin typeface="+mn-lt"/>
        <a:ea typeface="+mn-ea"/>
        <a:cs typeface="+mn-cs"/>
        <a:sym typeface="Calibri"/>
      </a:defRPr>
    </a:lvl2pPr>
    <a:lvl3pPr indent="457200" latinLnBrk="0">
      <a:defRPr sz="1200">
        <a:latin typeface="+mn-lt"/>
        <a:ea typeface="+mn-ea"/>
        <a:cs typeface="+mn-cs"/>
        <a:sym typeface="Calibri"/>
      </a:defRPr>
    </a:lvl3pPr>
    <a:lvl4pPr indent="685800" latinLnBrk="0">
      <a:defRPr sz="1200">
        <a:latin typeface="+mn-lt"/>
        <a:ea typeface="+mn-ea"/>
        <a:cs typeface="+mn-cs"/>
        <a:sym typeface="Calibri"/>
      </a:defRPr>
    </a:lvl4pPr>
    <a:lvl5pPr indent="914400" latinLnBrk="0">
      <a:defRPr sz="1200">
        <a:latin typeface="+mn-lt"/>
        <a:ea typeface="+mn-ea"/>
        <a:cs typeface="+mn-cs"/>
        <a:sym typeface="Calibri"/>
      </a:defRPr>
    </a:lvl5pPr>
    <a:lvl6pPr indent="1143000" latinLnBrk="0">
      <a:defRPr sz="1200">
        <a:latin typeface="+mn-lt"/>
        <a:ea typeface="+mn-ea"/>
        <a:cs typeface="+mn-cs"/>
        <a:sym typeface="Calibri"/>
      </a:defRPr>
    </a:lvl6pPr>
    <a:lvl7pPr indent="1371600" latinLnBrk="0">
      <a:defRPr sz="1200">
        <a:latin typeface="+mn-lt"/>
        <a:ea typeface="+mn-ea"/>
        <a:cs typeface="+mn-cs"/>
        <a:sym typeface="Calibri"/>
      </a:defRPr>
    </a:lvl7pPr>
    <a:lvl8pPr indent="1600200" latinLnBrk="0">
      <a:defRPr sz="1200">
        <a:latin typeface="+mn-lt"/>
        <a:ea typeface="+mn-ea"/>
        <a:cs typeface="+mn-cs"/>
        <a:sym typeface="Calibri"/>
      </a:defRPr>
    </a:lvl8pPr>
    <a:lvl9pPr indent="1828800" latinLnBrk="0">
      <a:defRPr sz="1200">
        <a:latin typeface="+mn-lt"/>
        <a:ea typeface="+mn-ea"/>
        <a:cs typeface="+mn-cs"/>
        <a:sym typeface="Calibri"/>
      </a:defRPr>
    </a:lvl9pPr>
  </p:notesStyle>
</p:notesMaster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</Relationships>
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type="tx" showMasterSp="1" showMasterPhAnim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pPr/>
            <a:fld id="{86CB4B4D-7CA3-9044-876B-883B54F8677D}" type="slidenum"/>
          </a:p>
        </p:txBody>
      </p:sp>
    </p:spTree>
  </p:cSld>
  <p:clrMapOvr>
    <a:masterClrMapping/>
  </p:clrMapOvr>
  <p:transition xmlns:p14="http://schemas.microsoft.com/office/powerpoint/2010/main" spd="med" advClick="1"/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/Relationships>
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/>
          <p:nvPr>
            <p:ph type="title"/>
          </p:nvPr>
        </p:nvSpPr>
        <p:spPr>
          <a:xfrm>
            <a:off x="457200" y="69056"/>
            <a:ext cx="8229600" cy="113109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pPr/>
            <a:r>
              <a:t>Title Text</a:t>
            </a:r>
          </a:p>
        </p:txBody>
      </p:sp>
      <p:sp>
        <p:nvSpPr>
          <p:cNvPr id="3" name="Body Level One…"/>
          <p:cNvSpPr txBox="1"/>
          <p:nvPr>
            <p:ph type="body" idx="1"/>
          </p:nvPr>
        </p:nvSpPr>
        <p:spPr>
          <a:xfrm>
            <a:off x="457200" y="1200150"/>
            <a:ext cx="8229600" cy="394335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45719" rIns="45719"/>
          <a:lstStyle/>
          <a:p>
            <a:pPr/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/>
          <p:nvPr>
            <p:ph type="sldNum" sz="quarter" idx="2"/>
          </p:nvPr>
        </p:nvSpPr>
        <p:spPr>
          <a:xfrm>
            <a:off x="4419600" y="4627562"/>
            <a:ext cx="2133600" cy="279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pPr/>
            <a:fld id="{86CB4B4D-7CA3-9044-876B-883B54F8677D}" type="slidenum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</p:sldLayoutIdLst>
  <p:transition xmlns:p14="http://schemas.microsoft.com/office/powerpoint/2010/main" spd="med" advClick="1"/>
  <p:txStyles>
    <p:titleStyle>
      <a:lvl1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ct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4400" u="none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342900" marR="0" indent="-3429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783771" marR="0" indent="-326571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1219200" marR="0" indent="-30480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17373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–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21945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»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26517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3108960" marR="0" indent="-365760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35661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4023359" marR="0" indent="-365759" algn="l" defTabSz="914400" rtl="0" latinLnBrk="0">
        <a:lnSpc>
          <a:spcPct val="100000"/>
        </a:lnSpc>
        <a:spcBef>
          <a:spcPts val="700"/>
        </a:spcBef>
        <a:spcAft>
          <a:spcPts val="0"/>
        </a:spcAft>
        <a:buClrTx/>
        <a:buSzPct val="100000"/>
        <a:buFont typeface="Arial"/>
        <a:buChar char="•"/>
        <a:tabLst/>
        <a:defRPr b="0" baseline="0" cap="none" i="0" spc="0" strike="noStrike" sz="3200" u="none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b="0" baseline="0" cap="none" i="0" spc="0" strike="noStrike" sz="1200" u="none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1" name="Shape 1"/>
          <p:cNvSpPr/>
          <p:nvPr/>
        </p:nvSpPr>
        <p:spPr>
          <a:xfrm>
            <a:off x="0" y="73151"/>
            <a:ext cx="54864" cy="507035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2" name="Text 2"/>
          <p:cNvSpPr txBox="1"/>
          <p:nvPr/>
        </p:nvSpPr>
        <p:spPr>
          <a:xfrm>
            <a:off x="274320" y="229223"/>
            <a:ext cx="3200401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Client Interview</a:t>
            </a:r>
          </a:p>
        </p:txBody>
      </p:sp>
      <p:sp>
        <p:nvSpPr>
          <p:cNvPr id="23" name="Text 3"/>
          <p:cNvSpPr txBox="1"/>
          <p:nvPr/>
        </p:nvSpPr>
        <p:spPr>
          <a:xfrm>
            <a:off x="2606039" y="229223"/>
            <a:ext cx="2743201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0C896"/>
                </a:solidFill>
              </a:defRPr>
            </a:lvl1pPr>
          </a:lstStyle>
          <a:p>
            <a:pPr/>
            <a:r>
              <a:t> Summary</a:t>
            </a:r>
          </a:p>
        </p:txBody>
      </p:sp>
      <p:sp>
        <p:nvSpPr>
          <p:cNvPr id="24" name="Text 4"/>
          <p:cNvSpPr txBox="1"/>
          <p:nvPr/>
        </p:nvSpPr>
        <p:spPr>
          <a:xfrm>
            <a:off x="274320" y="719250"/>
            <a:ext cx="6400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A0ADB8"/>
                </a:solidFill>
              </a:defRPr>
            </a:lvl1pPr>
          </a:lstStyle>
          <a:p>
            <a:pPr/>
            <a:r>
              <a:t>What Clients Told Us — Key Pain Points</a:t>
            </a:r>
          </a:p>
        </p:txBody>
      </p:sp>
      <p:sp>
        <p:nvSpPr>
          <p:cNvPr id="25" name="Shape 5"/>
          <p:cNvSpPr/>
          <p:nvPr/>
        </p:nvSpPr>
        <p:spPr>
          <a:xfrm>
            <a:off x="256032" y="1005839"/>
            <a:ext cx="4251960" cy="1417321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6" name="Shape 6"/>
          <p:cNvSpPr/>
          <p:nvPr/>
        </p:nvSpPr>
        <p:spPr>
          <a:xfrm>
            <a:off x="256031" y="1005839"/>
            <a:ext cx="54865" cy="141732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27" name="Text 7"/>
          <p:cNvSpPr txBox="1"/>
          <p:nvPr/>
        </p:nvSpPr>
        <p:spPr>
          <a:xfrm>
            <a:off x="420623" y="1192583"/>
            <a:ext cx="39319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Slot Management Nightmare</a:t>
            </a:r>
          </a:p>
        </p:txBody>
      </p:sp>
      <p:sp>
        <p:nvSpPr>
          <p:cNvPr id="28" name="Text 8"/>
          <p:cNvSpPr txBox="1"/>
          <p:nvPr/>
        </p:nvSpPr>
        <p:spPr>
          <a:xfrm>
            <a:off x="420623" y="1700574"/>
            <a:ext cx="39319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A0ADB8"/>
                </a:solidFill>
              </a:defRPr>
            </a:lvl1pPr>
          </a:lstStyle>
          <a:p>
            <a:pPr/>
            <a:r>
              <a:t>Managing 20+ booking slots per day manually is exhausting — calls, messages, spreadsheets with zero automation</a:t>
            </a:r>
          </a:p>
        </p:txBody>
      </p:sp>
      <p:sp>
        <p:nvSpPr>
          <p:cNvPr id="29" name="Shape 9"/>
          <p:cNvSpPr/>
          <p:nvPr/>
        </p:nvSpPr>
        <p:spPr>
          <a:xfrm>
            <a:off x="4663440" y="1005839"/>
            <a:ext cx="4251960" cy="1417321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0" name="Shape 10"/>
          <p:cNvSpPr/>
          <p:nvPr/>
        </p:nvSpPr>
        <p:spPr>
          <a:xfrm>
            <a:off x="4663440" y="1005839"/>
            <a:ext cx="54865" cy="141732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1" name="Text 11"/>
          <p:cNvSpPr txBox="1"/>
          <p:nvPr/>
        </p:nvSpPr>
        <p:spPr>
          <a:xfrm>
            <a:off x="4828032" y="1192583"/>
            <a:ext cx="39319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No Clear Refund Policy</a:t>
            </a:r>
          </a:p>
        </p:txBody>
      </p:sp>
      <p:sp>
        <p:nvSpPr>
          <p:cNvPr id="32" name="Text 12"/>
          <p:cNvSpPr txBox="1"/>
          <p:nvPr/>
        </p:nvSpPr>
        <p:spPr>
          <a:xfrm>
            <a:off x="4828032" y="1700574"/>
            <a:ext cx="39319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A0ADB8"/>
                </a:solidFill>
              </a:defRPr>
            </a:lvl1pPr>
          </a:lstStyle>
          <a:p>
            <a:pPr/>
            <a:r>
              <a:t>When bookings are cancelled, there is no defined refund process — players are frustrated, admins are losing trust</a:t>
            </a:r>
          </a:p>
        </p:txBody>
      </p:sp>
      <p:sp>
        <p:nvSpPr>
          <p:cNvPr id="33" name="Shape 13"/>
          <p:cNvSpPr/>
          <p:nvPr/>
        </p:nvSpPr>
        <p:spPr>
          <a:xfrm>
            <a:off x="256032" y="2560320"/>
            <a:ext cx="4251960" cy="1417321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4" name="Shape 14"/>
          <p:cNvSpPr/>
          <p:nvPr/>
        </p:nvSpPr>
        <p:spPr>
          <a:xfrm>
            <a:off x="256031" y="2560320"/>
            <a:ext cx="54865" cy="141732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5" name="Text 15"/>
          <p:cNvSpPr txBox="1"/>
          <p:nvPr/>
        </p:nvSpPr>
        <p:spPr>
          <a:xfrm>
            <a:off x="420623" y="2747063"/>
            <a:ext cx="3931922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Cancellations Due to Insufficient Players</a:t>
            </a:r>
          </a:p>
        </p:txBody>
      </p:sp>
      <p:sp>
        <p:nvSpPr>
          <p:cNvPr id="36" name="Text 16"/>
          <p:cNvSpPr txBox="1"/>
          <p:nvPr/>
        </p:nvSpPr>
        <p:spPr>
          <a:xfrm>
            <a:off x="420623" y="3255054"/>
            <a:ext cx="3931922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A0ADB8"/>
                </a:solidFill>
              </a:defRPr>
            </a:lvl1pPr>
          </a:lstStyle>
          <a:p>
            <a:pPr/>
            <a:r>
              <a:t>Players book grounds but cancel because they couldn't find enough team members to complete a match</a:t>
            </a:r>
          </a:p>
        </p:txBody>
      </p:sp>
      <p:sp>
        <p:nvSpPr>
          <p:cNvPr id="37" name="Shape 17"/>
          <p:cNvSpPr/>
          <p:nvPr/>
        </p:nvSpPr>
        <p:spPr>
          <a:xfrm>
            <a:off x="4663440" y="2560320"/>
            <a:ext cx="4251960" cy="1417321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8" name="Shape 18"/>
          <p:cNvSpPr/>
          <p:nvPr/>
        </p:nvSpPr>
        <p:spPr>
          <a:xfrm>
            <a:off x="4663440" y="2560320"/>
            <a:ext cx="54865" cy="1417321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39" name="Text 19"/>
          <p:cNvSpPr txBox="1"/>
          <p:nvPr/>
        </p:nvSpPr>
        <p:spPr>
          <a:xfrm>
            <a:off x="4828032" y="2747063"/>
            <a:ext cx="393192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Empty Slots &amp; Revenue Loss</a:t>
            </a:r>
          </a:p>
        </p:txBody>
      </p:sp>
      <p:sp>
        <p:nvSpPr>
          <p:cNvPr id="40" name="Text 20"/>
          <p:cNvSpPr txBox="1"/>
          <p:nvPr/>
        </p:nvSpPr>
        <p:spPr>
          <a:xfrm>
            <a:off x="4828032" y="3255054"/>
            <a:ext cx="393192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A0ADB8"/>
                </a:solidFill>
              </a:defRPr>
            </a:lvl1pPr>
          </a:lstStyle>
          <a:p>
            <a:pPr/>
            <a:r>
              <a:t>Last-minute team cancellations leave ground slots empty with no system to reassign them quickly</a:t>
            </a:r>
          </a:p>
        </p:txBody>
      </p:sp>
      <p:sp>
        <p:nvSpPr>
          <p:cNvPr id="41" name="Shape 21"/>
          <p:cNvSpPr/>
          <p:nvPr/>
        </p:nvSpPr>
        <p:spPr>
          <a:xfrm>
            <a:off x="256032" y="4160520"/>
            <a:ext cx="8631936" cy="713233"/>
          </a:xfrm>
          <a:prstGeom prst="rect">
            <a:avLst/>
          </a:prstGeom>
          <a:solidFill>
            <a:srgbClr val="001A1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2" name="Text 22"/>
          <p:cNvSpPr txBox="1"/>
          <p:nvPr/>
        </p:nvSpPr>
        <p:spPr>
          <a:xfrm>
            <a:off x="411479" y="4317414"/>
            <a:ext cx="1463042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0C896"/>
                </a:solidFill>
              </a:defRPr>
            </a:lvl1pPr>
          </a:lstStyle>
          <a:p>
            <a:pPr/>
            <a:r>
              <a:t>Core Insight:</a:t>
            </a:r>
          </a:p>
        </p:txBody>
      </p:sp>
      <p:sp>
        <p:nvSpPr>
          <p:cNvPr id="43" name="Text 23"/>
          <p:cNvSpPr txBox="1"/>
          <p:nvPr/>
        </p:nvSpPr>
        <p:spPr>
          <a:xfrm>
            <a:off x="1737360" y="4302042"/>
            <a:ext cx="6949441" cy="3021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Most cancellations happen because players couldn't find enough team members — slot management and cancellation handling must be fully automated.</a:t>
            </a:r>
          </a:p>
        </p:txBody>
      </p:sp>
      <p:sp>
        <p:nvSpPr>
          <p:cNvPr id="44" name="Shape 24"/>
          <p:cNvSpPr/>
          <p:nvPr/>
        </p:nvSpPr>
        <p:spPr>
          <a:xfrm>
            <a:off x="0" y="5070347"/>
            <a:ext cx="9144000" cy="7315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7" name="Shape 1"/>
          <p:cNvSpPr/>
          <p:nvPr/>
        </p:nvSpPr>
        <p:spPr>
          <a:xfrm>
            <a:off x="0" y="73151"/>
            <a:ext cx="54864" cy="507035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8" name="Shape 2"/>
          <p:cNvSpPr/>
          <p:nvPr/>
        </p:nvSpPr>
        <p:spPr>
          <a:xfrm>
            <a:off x="6858000" y="-365761"/>
            <a:ext cx="2926081" cy="2926082"/>
          </a:xfrm>
          <a:prstGeom prst="ellipse">
            <a:avLst/>
          </a:prstGeom>
          <a:solidFill>
            <a:srgbClr val="001A12"/>
          </a:solidFill>
          <a:ln w="254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49" name="Shape 3"/>
          <p:cNvSpPr/>
          <p:nvPr/>
        </p:nvSpPr>
        <p:spPr>
          <a:xfrm>
            <a:off x="7406640" y="274319"/>
            <a:ext cx="1645921" cy="1645922"/>
          </a:xfrm>
          <a:prstGeom prst="ellipse">
            <a:avLst/>
          </a:prstGeom>
          <a:solidFill>
            <a:srgbClr val="002918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0" name="Text 4"/>
          <p:cNvSpPr txBox="1"/>
          <p:nvPr/>
        </p:nvSpPr>
        <p:spPr>
          <a:xfrm>
            <a:off x="365760" y="1181804"/>
            <a:ext cx="2011679" cy="5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400">
                <a:solidFill>
                  <a:srgbClr val="FFFFFF"/>
                </a:solidFill>
              </a:defRPr>
            </a:lvl1pPr>
          </a:lstStyle>
          <a:p>
            <a:pPr/>
            <a:r>
              <a:t>Sports</a:t>
            </a:r>
          </a:p>
        </p:txBody>
      </p:sp>
      <p:sp>
        <p:nvSpPr>
          <p:cNvPr id="51" name="Text 5"/>
          <p:cNvSpPr txBox="1"/>
          <p:nvPr/>
        </p:nvSpPr>
        <p:spPr>
          <a:xfrm>
            <a:off x="2212848" y="1181804"/>
            <a:ext cx="1828801" cy="5624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4400">
                <a:solidFill>
                  <a:srgbClr val="00C896"/>
                </a:solidFill>
              </a:defRPr>
            </a:lvl1pPr>
          </a:lstStyle>
          <a:p>
            <a:pPr/>
            <a:r>
              <a:t>Sync</a:t>
            </a:r>
          </a:p>
        </p:txBody>
      </p:sp>
      <p:sp>
        <p:nvSpPr>
          <p:cNvPr id="52" name="Text 6"/>
          <p:cNvSpPr txBox="1"/>
          <p:nvPr/>
        </p:nvSpPr>
        <p:spPr>
          <a:xfrm>
            <a:off x="365759" y="1978749"/>
            <a:ext cx="5486401" cy="24874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2000">
                <a:solidFill>
                  <a:srgbClr val="A0ADB8"/>
                </a:solidFill>
              </a:defRPr>
            </a:lvl1pPr>
          </a:lstStyle>
          <a:p>
            <a:pPr/>
            <a:r>
              <a:t>Connect &amp; Play</a:t>
            </a:r>
          </a:p>
        </p:txBody>
      </p:sp>
      <p:sp>
        <p:nvSpPr>
          <p:cNvPr id="53" name="Shape 7"/>
          <p:cNvSpPr/>
          <p:nvPr/>
        </p:nvSpPr>
        <p:spPr>
          <a:xfrm>
            <a:off x="365759" y="2423160"/>
            <a:ext cx="3200401" cy="36577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4" name="Text 8"/>
          <p:cNvSpPr txBox="1"/>
          <p:nvPr/>
        </p:nvSpPr>
        <p:spPr>
          <a:xfrm>
            <a:off x="365759" y="2786819"/>
            <a:ext cx="5943601" cy="3699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/>
          <a:p>
            <a:pPr>
              <a:defRPr sz="1300">
                <a:solidFill>
                  <a:srgbClr val="A0ADB8"/>
                </a:solidFill>
              </a:defRPr>
            </a:pPr>
            <a:r>
              <a:t>A smart all-in-one sports platform connecting</a:t>
            </a:r>
          </a:p>
          <a:p>
            <a:pPr>
              <a:defRPr sz="1300">
                <a:solidFill>
                  <a:srgbClr val="A0ADB8"/>
                </a:solidFill>
              </a:defRPr>
            </a:pPr>
            <a:r>
              <a:t>players, trainers, and grounds across India</a:t>
            </a:r>
          </a:p>
        </p:txBody>
      </p:sp>
      <p:sp>
        <p:nvSpPr>
          <p:cNvPr id="55" name="Shape 9"/>
          <p:cNvSpPr/>
          <p:nvPr/>
        </p:nvSpPr>
        <p:spPr>
          <a:xfrm>
            <a:off x="365759" y="3657600"/>
            <a:ext cx="2560322" cy="1005839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6" name="Text 10"/>
          <p:cNvSpPr txBox="1"/>
          <p:nvPr/>
        </p:nvSpPr>
        <p:spPr>
          <a:xfrm>
            <a:off x="502919" y="3809808"/>
            <a:ext cx="2286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57" name="Text 11"/>
          <p:cNvSpPr txBox="1"/>
          <p:nvPr/>
        </p:nvSpPr>
        <p:spPr>
          <a:xfrm>
            <a:off x="502919" y="4210856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C896"/>
                </a:solidFill>
              </a:defRPr>
            </a:lvl1pPr>
          </a:lstStyle>
          <a:p>
            <a:pPr/>
            <a:r>
              <a:t>Play · Book · Connect</a:t>
            </a:r>
          </a:p>
        </p:txBody>
      </p:sp>
      <p:sp>
        <p:nvSpPr>
          <p:cNvPr id="58" name="Shape 12"/>
          <p:cNvSpPr/>
          <p:nvPr/>
        </p:nvSpPr>
        <p:spPr>
          <a:xfrm>
            <a:off x="3200400" y="3657600"/>
            <a:ext cx="2560321" cy="1005839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59" name="Text 13"/>
          <p:cNvSpPr txBox="1"/>
          <p:nvPr/>
        </p:nvSpPr>
        <p:spPr>
          <a:xfrm>
            <a:off x="3337559" y="3809808"/>
            <a:ext cx="2286001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Admin</a:t>
            </a:r>
          </a:p>
        </p:txBody>
      </p:sp>
      <p:sp>
        <p:nvSpPr>
          <p:cNvPr id="60" name="Text 14"/>
          <p:cNvSpPr txBox="1"/>
          <p:nvPr/>
        </p:nvSpPr>
        <p:spPr>
          <a:xfrm>
            <a:off x="3337559" y="4210856"/>
            <a:ext cx="2286001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C896"/>
                </a:solidFill>
              </a:defRPr>
            </a:lvl1pPr>
          </a:lstStyle>
          <a:p>
            <a:pPr/>
            <a:r>
              <a:t>Manage · Moderate</a:t>
            </a:r>
          </a:p>
        </p:txBody>
      </p:sp>
      <p:sp>
        <p:nvSpPr>
          <p:cNvPr id="61" name="Shape 15"/>
          <p:cNvSpPr/>
          <p:nvPr/>
        </p:nvSpPr>
        <p:spPr>
          <a:xfrm>
            <a:off x="6035040" y="3657600"/>
            <a:ext cx="2560321" cy="1005839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2" name="Text 16"/>
          <p:cNvSpPr txBox="1"/>
          <p:nvPr/>
        </p:nvSpPr>
        <p:spPr>
          <a:xfrm>
            <a:off x="6172200" y="3809808"/>
            <a:ext cx="2286000" cy="189360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400">
                <a:solidFill>
                  <a:srgbClr val="FFFFFF"/>
                </a:solidFill>
              </a:defRPr>
            </a:lvl1pPr>
          </a:lstStyle>
          <a:p>
            <a:pPr/>
            <a:r>
              <a:t>Trainer</a:t>
            </a:r>
          </a:p>
        </p:txBody>
      </p:sp>
      <p:sp>
        <p:nvSpPr>
          <p:cNvPr id="63" name="Text 17"/>
          <p:cNvSpPr txBox="1"/>
          <p:nvPr/>
        </p:nvSpPr>
        <p:spPr>
          <a:xfrm>
            <a:off x="6172200" y="4210856"/>
            <a:ext cx="2286000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00C896"/>
                </a:solidFill>
              </a:defRPr>
            </a:lvl1pPr>
          </a:lstStyle>
          <a:p>
            <a:pPr/>
            <a:r>
              <a:t>Coach · Earn</a:t>
            </a:r>
          </a:p>
        </p:txBody>
      </p:sp>
      <p:sp>
        <p:nvSpPr>
          <p:cNvPr id="64" name="Shape 18"/>
          <p:cNvSpPr/>
          <p:nvPr/>
        </p:nvSpPr>
        <p:spPr>
          <a:xfrm>
            <a:off x="0" y="5070347"/>
            <a:ext cx="9144000" cy="7315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7" name="Shape 1"/>
          <p:cNvSpPr/>
          <p:nvPr/>
        </p:nvSpPr>
        <p:spPr>
          <a:xfrm>
            <a:off x="0" y="73151"/>
            <a:ext cx="54864" cy="507035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68" name="Text 2"/>
          <p:cNvSpPr txBox="1"/>
          <p:nvPr/>
        </p:nvSpPr>
        <p:spPr>
          <a:xfrm>
            <a:off x="274320" y="251820"/>
            <a:ext cx="3840480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FFFFFF"/>
                </a:solidFill>
              </a:defRPr>
            </a:lvl1pPr>
          </a:lstStyle>
          <a:p>
            <a:pPr/>
            <a:r>
              <a:t>Feature Highlight — </a:t>
            </a:r>
          </a:p>
        </p:txBody>
      </p:sp>
      <p:sp>
        <p:nvSpPr>
          <p:cNvPr id="69" name="Text 3"/>
          <p:cNvSpPr txBox="1"/>
          <p:nvPr/>
        </p:nvSpPr>
        <p:spPr>
          <a:xfrm>
            <a:off x="3364991" y="251820"/>
            <a:ext cx="3200401" cy="3010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400">
                <a:solidFill>
                  <a:srgbClr val="00C896"/>
                </a:solidFill>
              </a:defRPr>
            </a:lvl1pPr>
          </a:lstStyle>
          <a:p>
            <a:pPr/>
            <a:r>
              <a:t>Join a Match</a:t>
            </a:r>
          </a:p>
        </p:txBody>
      </p:sp>
      <p:sp>
        <p:nvSpPr>
          <p:cNvPr id="70" name="Text 4"/>
          <p:cNvSpPr txBox="1"/>
          <p:nvPr/>
        </p:nvSpPr>
        <p:spPr>
          <a:xfrm>
            <a:off x="274320" y="710106"/>
            <a:ext cx="54864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A0ADB8"/>
                </a:solidFill>
              </a:defRPr>
            </a:lvl1pPr>
          </a:lstStyle>
          <a:p>
            <a:pPr/>
            <a:r>
              <a:t>How team joining works — step by step</a:t>
            </a:r>
          </a:p>
        </p:txBody>
      </p:sp>
      <p:sp>
        <p:nvSpPr>
          <p:cNvPr id="71" name="Shape 5"/>
          <p:cNvSpPr/>
          <p:nvPr/>
        </p:nvSpPr>
        <p:spPr>
          <a:xfrm>
            <a:off x="256031" y="1051560"/>
            <a:ext cx="1993394" cy="2103121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2" name="Shape 6"/>
          <p:cNvSpPr/>
          <p:nvPr/>
        </p:nvSpPr>
        <p:spPr>
          <a:xfrm>
            <a:off x="932688" y="1115567"/>
            <a:ext cx="594361" cy="594361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3" name="Text 7"/>
          <p:cNvSpPr txBox="1"/>
          <p:nvPr/>
        </p:nvSpPr>
        <p:spPr>
          <a:xfrm>
            <a:off x="932688" y="1291924"/>
            <a:ext cx="59436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0D1117"/>
                </a:solidFill>
              </a:defRPr>
            </a:lvl1pPr>
          </a:lstStyle>
          <a:p>
            <a:pPr/>
            <a:r>
              <a:t>1</a:t>
            </a:r>
          </a:p>
        </p:txBody>
      </p:sp>
      <p:sp>
        <p:nvSpPr>
          <p:cNvPr id="74" name="Text 8"/>
          <p:cNvSpPr txBox="1"/>
          <p:nvPr/>
        </p:nvSpPr>
        <p:spPr>
          <a:xfrm>
            <a:off x="347472" y="2015543"/>
            <a:ext cx="1828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Create Match</a:t>
            </a:r>
          </a:p>
        </p:txBody>
      </p:sp>
      <p:sp>
        <p:nvSpPr>
          <p:cNvPr id="75" name="Text 9"/>
          <p:cNvSpPr txBox="1"/>
          <p:nvPr/>
        </p:nvSpPr>
        <p:spPr>
          <a:xfrm>
            <a:off x="347472" y="2520101"/>
            <a:ext cx="182880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User sets sport, time, location &amp; team size (3v3 or 5v5)</a:t>
            </a:r>
          </a:p>
        </p:txBody>
      </p:sp>
      <p:sp>
        <p:nvSpPr>
          <p:cNvPr id="76" name="Shape 10"/>
          <p:cNvSpPr/>
          <p:nvPr/>
        </p:nvSpPr>
        <p:spPr>
          <a:xfrm>
            <a:off x="2249423" y="2029967"/>
            <a:ext cx="182881" cy="54865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7" name="Shape 11"/>
          <p:cNvSpPr/>
          <p:nvPr/>
        </p:nvSpPr>
        <p:spPr>
          <a:xfrm>
            <a:off x="2432304" y="1051560"/>
            <a:ext cx="1993393" cy="2103121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8" name="Shape 12"/>
          <p:cNvSpPr/>
          <p:nvPr/>
        </p:nvSpPr>
        <p:spPr>
          <a:xfrm>
            <a:off x="3108960" y="1115567"/>
            <a:ext cx="594361" cy="594361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79" name="Text 13"/>
          <p:cNvSpPr txBox="1"/>
          <p:nvPr/>
        </p:nvSpPr>
        <p:spPr>
          <a:xfrm>
            <a:off x="3108960" y="1291924"/>
            <a:ext cx="59436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0D1117"/>
                </a:solidFill>
              </a:defRPr>
            </a:lvl1pPr>
          </a:lstStyle>
          <a:p>
            <a:pPr/>
            <a:r>
              <a:t>2</a:t>
            </a:r>
          </a:p>
        </p:txBody>
      </p:sp>
      <p:sp>
        <p:nvSpPr>
          <p:cNvPr id="80" name="Text 14"/>
          <p:cNvSpPr txBox="1"/>
          <p:nvPr/>
        </p:nvSpPr>
        <p:spPr>
          <a:xfrm>
            <a:off x="2523744" y="2015543"/>
            <a:ext cx="1828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Discover</a:t>
            </a:r>
          </a:p>
        </p:txBody>
      </p:sp>
      <p:sp>
        <p:nvSpPr>
          <p:cNvPr id="81" name="Text 15"/>
          <p:cNvSpPr txBox="1"/>
          <p:nvPr/>
        </p:nvSpPr>
        <p:spPr>
          <a:xfrm>
            <a:off x="2523744" y="2520101"/>
            <a:ext cx="182880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Nearby players see the open match and who has already joined</a:t>
            </a:r>
          </a:p>
        </p:txBody>
      </p:sp>
      <p:sp>
        <p:nvSpPr>
          <p:cNvPr id="82" name="Shape 16"/>
          <p:cNvSpPr/>
          <p:nvPr/>
        </p:nvSpPr>
        <p:spPr>
          <a:xfrm>
            <a:off x="4425696" y="2029967"/>
            <a:ext cx="182881" cy="54865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3" name="Shape 17"/>
          <p:cNvSpPr/>
          <p:nvPr/>
        </p:nvSpPr>
        <p:spPr>
          <a:xfrm>
            <a:off x="4608576" y="1051560"/>
            <a:ext cx="1993393" cy="2103121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4" name="Shape 18"/>
          <p:cNvSpPr/>
          <p:nvPr/>
        </p:nvSpPr>
        <p:spPr>
          <a:xfrm>
            <a:off x="5285232" y="1115567"/>
            <a:ext cx="594361" cy="594361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5" name="Text 19"/>
          <p:cNvSpPr txBox="1"/>
          <p:nvPr/>
        </p:nvSpPr>
        <p:spPr>
          <a:xfrm>
            <a:off x="5285232" y="1291924"/>
            <a:ext cx="59436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0D1117"/>
                </a:solidFill>
              </a:defRPr>
            </a:lvl1pPr>
          </a:lstStyle>
          <a:p>
            <a:pPr/>
            <a:r>
              <a:t>3</a:t>
            </a:r>
          </a:p>
        </p:txBody>
      </p:sp>
      <p:sp>
        <p:nvSpPr>
          <p:cNvPr id="86" name="Text 20"/>
          <p:cNvSpPr txBox="1"/>
          <p:nvPr/>
        </p:nvSpPr>
        <p:spPr>
          <a:xfrm>
            <a:off x="4700015" y="2015543"/>
            <a:ext cx="1828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Join Team</a:t>
            </a:r>
          </a:p>
        </p:txBody>
      </p:sp>
      <p:sp>
        <p:nvSpPr>
          <p:cNvPr id="87" name="Text 21"/>
          <p:cNvSpPr txBox="1"/>
          <p:nvPr/>
        </p:nvSpPr>
        <p:spPr>
          <a:xfrm>
            <a:off x="4700015" y="2520101"/>
            <a:ext cx="182880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One-tap join request — creator accepts, team chat opens</a:t>
            </a:r>
          </a:p>
        </p:txBody>
      </p:sp>
      <p:sp>
        <p:nvSpPr>
          <p:cNvPr id="88" name="Shape 22"/>
          <p:cNvSpPr/>
          <p:nvPr/>
        </p:nvSpPr>
        <p:spPr>
          <a:xfrm>
            <a:off x="6601968" y="2029967"/>
            <a:ext cx="182881" cy="54865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89" name="Shape 23"/>
          <p:cNvSpPr/>
          <p:nvPr/>
        </p:nvSpPr>
        <p:spPr>
          <a:xfrm>
            <a:off x="6784847" y="1051560"/>
            <a:ext cx="1993393" cy="2103121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0" name="Shape 24"/>
          <p:cNvSpPr/>
          <p:nvPr/>
        </p:nvSpPr>
        <p:spPr>
          <a:xfrm>
            <a:off x="7461504" y="1115567"/>
            <a:ext cx="594361" cy="594361"/>
          </a:xfrm>
          <a:prstGeom prst="ellipse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1" name="Text 25"/>
          <p:cNvSpPr txBox="1"/>
          <p:nvPr/>
        </p:nvSpPr>
        <p:spPr>
          <a:xfrm>
            <a:off x="7461504" y="1291924"/>
            <a:ext cx="594361" cy="24164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>
                <a:solidFill>
                  <a:srgbClr val="0D1117"/>
                </a:solidFill>
              </a:defRPr>
            </a:lvl1pPr>
          </a:lstStyle>
          <a:p>
            <a:pPr/>
            <a:r>
              <a:t>4</a:t>
            </a:r>
          </a:p>
        </p:txBody>
      </p:sp>
      <p:sp>
        <p:nvSpPr>
          <p:cNvPr id="92" name="Text 26"/>
          <p:cNvSpPr txBox="1"/>
          <p:nvPr/>
        </p:nvSpPr>
        <p:spPr>
          <a:xfrm>
            <a:off x="6876288" y="2015543"/>
            <a:ext cx="1828801" cy="15686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200">
                <a:solidFill>
                  <a:srgbClr val="FFFFFF"/>
                </a:solidFill>
              </a:defRPr>
            </a:lvl1pPr>
          </a:lstStyle>
          <a:p>
            <a:pPr/>
            <a:r>
              <a:t>Confirmed</a:t>
            </a:r>
          </a:p>
        </p:txBody>
      </p:sp>
      <p:sp>
        <p:nvSpPr>
          <p:cNvPr id="93" name="Text 27"/>
          <p:cNvSpPr txBox="1"/>
          <p:nvPr/>
        </p:nvSpPr>
        <p:spPr>
          <a:xfrm>
            <a:off x="6876288" y="2520101"/>
            <a:ext cx="1828801" cy="25417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All players notified, ground slot linked automatically</a:t>
            </a:r>
          </a:p>
        </p:txBody>
      </p:sp>
      <p:sp>
        <p:nvSpPr>
          <p:cNvPr id="94" name="Shape 28"/>
          <p:cNvSpPr/>
          <p:nvPr/>
        </p:nvSpPr>
        <p:spPr>
          <a:xfrm>
            <a:off x="256031" y="3310128"/>
            <a:ext cx="2697482" cy="658369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5" name="Text 29"/>
          <p:cNvSpPr txBox="1"/>
          <p:nvPr/>
        </p:nvSpPr>
        <p:spPr>
          <a:xfrm>
            <a:off x="393192" y="3425873"/>
            <a:ext cx="2377440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0C896"/>
                </a:solidFill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96" name="Text 30"/>
          <p:cNvSpPr txBox="1"/>
          <p:nvPr/>
        </p:nvSpPr>
        <p:spPr>
          <a:xfrm>
            <a:off x="393192" y="3694683"/>
            <a:ext cx="237744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Creates &amp; joins matches</a:t>
            </a:r>
          </a:p>
        </p:txBody>
      </p:sp>
      <p:sp>
        <p:nvSpPr>
          <p:cNvPr id="97" name="Shape 31"/>
          <p:cNvSpPr/>
          <p:nvPr/>
        </p:nvSpPr>
        <p:spPr>
          <a:xfrm>
            <a:off x="3163823" y="3310128"/>
            <a:ext cx="2697482" cy="658369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98" name="Text 32"/>
          <p:cNvSpPr txBox="1"/>
          <p:nvPr/>
        </p:nvSpPr>
        <p:spPr>
          <a:xfrm>
            <a:off x="3300984" y="3425873"/>
            <a:ext cx="23774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0C896"/>
                </a:solidFill>
              </a:defRPr>
            </a:lvl1pPr>
          </a:lstStyle>
          <a:p>
            <a:pPr/>
            <a:r>
              <a:t>Admin</a:t>
            </a:r>
          </a:p>
        </p:txBody>
      </p:sp>
      <p:sp>
        <p:nvSpPr>
          <p:cNvPr id="99" name="Text 33"/>
          <p:cNvSpPr txBox="1"/>
          <p:nvPr/>
        </p:nvSpPr>
        <p:spPr>
          <a:xfrm>
            <a:off x="3300984" y="3694683"/>
            <a:ext cx="2377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Monitors &amp; moderates</a:t>
            </a:r>
          </a:p>
        </p:txBody>
      </p:sp>
      <p:sp>
        <p:nvSpPr>
          <p:cNvPr id="100" name="Shape 34"/>
          <p:cNvSpPr/>
          <p:nvPr/>
        </p:nvSpPr>
        <p:spPr>
          <a:xfrm>
            <a:off x="6071615" y="3310128"/>
            <a:ext cx="2697481" cy="658369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1" name="Text 35"/>
          <p:cNvSpPr txBox="1"/>
          <p:nvPr/>
        </p:nvSpPr>
        <p:spPr>
          <a:xfrm>
            <a:off x="6208776" y="3425873"/>
            <a:ext cx="2377441" cy="13426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100">
                <a:solidFill>
                  <a:srgbClr val="00C896"/>
                </a:solidFill>
              </a:defRPr>
            </a:lvl1pPr>
          </a:lstStyle>
          <a:p>
            <a:pPr/>
            <a:r>
              <a:t>Trainer</a:t>
            </a:r>
          </a:p>
        </p:txBody>
      </p:sp>
      <p:sp>
        <p:nvSpPr>
          <p:cNvPr id="102" name="Text 36"/>
          <p:cNvSpPr txBox="1"/>
          <p:nvPr/>
        </p:nvSpPr>
        <p:spPr>
          <a:xfrm>
            <a:off x="6208776" y="3694683"/>
            <a:ext cx="237744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Attaches coaching session</a:t>
            </a:r>
          </a:p>
        </p:txBody>
      </p:sp>
      <p:sp>
        <p:nvSpPr>
          <p:cNvPr id="103" name="Shape 37"/>
          <p:cNvSpPr/>
          <p:nvPr/>
        </p:nvSpPr>
        <p:spPr>
          <a:xfrm>
            <a:off x="256032" y="4133088"/>
            <a:ext cx="8631936" cy="749809"/>
          </a:xfrm>
          <a:prstGeom prst="rect">
            <a:avLst/>
          </a:prstGeom>
          <a:solidFill>
            <a:srgbClr val="001A1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4" name="Text 38"/>
          <p:cNvSpPr txBox="1"/>
          <p:nvPr/>
        </p:nvSpPr>
        <p:spPr>
          <a:xfrm>
            <a:off x="457200" y="4450002"/>
            <a:ext cx="8229600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b="1" sz="1100">
                <a:solidFill>
                  <a:srgbClr val="00C896"/>
                </a:solidFill>
              </a:defRPr>
            </a:lvl1pPr>
          </a:lstStyle>
          <a:p>
            <a:pPr/>
            <a:r>
              <a:t>No WhatsApp chaos   ·   No last-minute cancellations   ·   Real-time team visibility</a:t>
            </a:r>
          </a:p>
        </p:txBody>
      </p:sp>
      <p:sp>
        <p:nvSpPr>
          <p:cNvPr id="105" name="Shape 39"/>
          <p:cNvSpPr/>
          <p:nvPr/>
        </p:nvSpPr>
        <p:spPr>
          <a:xfrm>
            <a:off x="0" y="5070347"/>
            <a:ext cx="9144000" cy="7315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xmlns:m="http://schemas.openxmlformats.org/officeDocument/2006/math" xmlns:a14="http://schemas.microsoft.com/office/drawing/2010/main" showMasterSp="1" showMasterPhAnim="1">
  <p:cSld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Shape 0"/>
          <p:cNvSpPr/>
          <p:nvPr/>
        </p:nvSpPr>
        <p:spPr>
          <a:xfrm>
            <a:off x="0" y="-1"/>
            <a:ext cx="9144000" cy="73154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8" name="Shape 1"/>
          <p:cNvSpPr/>
          <p:nvPr/>
        </p:nvSpPr>
        <p:spPr>
          <a:xfrm>
            <a:off x="0" y="73151"/>
            <a:ext cx="54864" cy="5070350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09" name="Text 2"/>
          <p:cNvSpPr txBox="1"/>
          <p:nvPr/>
        </p:nvSpPr>
        <p:spPr>
          <a:xfrm>
            <a:off x="274320" y="229223"/>
            <a:ext cx="3200401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FFFFFF"/>
                </a:solidFill>
              </a:defRPr>
            </a:lvl1pPr>
          </a:lstStyle>
          <a:p>
            <a:pPr/>
            <a:r>
              <a:t>SportsSync — </a:t>
            </a:r>
          </a:p>
        </p:txBody>
      </p:sp>
      <p:sp>
        <p:nvSpPr>
          <p:cNvPr id="110" name="Text 3"/>
          <p:cNvSpPr txBox="1"/>
          <p:nvPr/>
        </p:nvSpPr>
        <p:spPr>
          <a:xfrm>
            <a:off x="2743200" y="229223"/>
            <a:ext cx="3200400" cy="3462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2600">
                <a:solidFill>
                  <a:srgbClr val="00C896"/>
                </a:solidFill>
              </a:defRPr>
            </a:lvl1pPr>
          </a:lstStyle>
          <a:p>
            <a:pPr/>
            <a:r>
              <a:t>The Solution</a:t>
            </a:r>
          </a:p>
        </p:txBody>
      </p:sp>
      <p:sp>
        <p:nvSpPr>
          <p:cNvPr id="111" name="Text 4"/>
          <p:cNvSpPr txBox="1"/>
          <p:nvPr/>
        </p:nvSpPr>
        <p:spPr>
          <a:xfrm>
            <a:off x="274320" y="710106"/>
            <a:ext cx="6400801" cy="13426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100">
                <a:solidFill>
                  <a:srgbClr val="A0ADB8"/>
                </a:solidFill>
              </a:defRPr>
            </a:lvl1pPr>
          </a:lstStyle>
          <a:p>
            <a:pPr/>
            <a:r>
              <a:t>Complete platform solution for players, admins &amp; trainers</a:t>
            </a:r>
          </a:p>
        </p:txBody>
      </p:sp>
      <p:sp>
        <p:nvSpPr>
          <p:cNvPr id="112" name="Shape 5"/>
          <p:cNvSpPr/>
          <p:nvPr/>
        </p:nvSpPr>
        <p:spPr>
          <a:xfrm>
            <a:off x="256031" y="1051560"/>
            <a:ext cx="4434842" cy="621793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3" name="Shape 6"/>
          <p:cNvSpPr/>
          <p:nvPr/>
        </p:nvSpPr>
        <p:spPr>
          <a:xfrm>
            <a:off x="256031" y="1051560"/>
            <a:ext cx="54865" cy="62179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4" name="Text 7"/>
          <p:cNvSpPr txBox="1"/>
          <p:nvPr/>
        </p:nvSpPr>
        <p:spPr>
          <a:xfrm>
            <a:off x="402335" y="1303064"/>
            <a:ext cx="41605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Find Grounds — Map-based discovery &amp; instant slot booking</a:t>
            </a:r>
          </a:p>
        </p:txBody>
      </p:sp>
      <p:sp>
        <p:nvSpPr>
          <p:cNvPr id="115" name="Shape 8"/>
          <p:cNvSpPr/>
          <p:nvPr/>
        </p:nvSpPr>
        <p:spPr>
          <a:xfrm>
            <a:off x="256031" y="1801367"/>
            <a:ext cx="4434842" cy="621793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6" name="Shape 9"/>
          <p:cNvSpPr/>
          <p:nvPr/>
        </p:nvSpPr>
        <p:spPr>
          <a:xfrm>
            <a:off x="256031" y="1801367"/>
            <a:ext cx="54865" cy="62179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7" name="Text 10"/>
          <p:cNvSpPr txBox="1"/>
          <p:nvPr/>
        </p:nvSpPr>
        <p:spPr>
          <a:xfrm>
            <a:off x="402335" y="2052872"/>
            <a:ext cx="41605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Find Partners — Search by sport, skill level &amp; location</a:t>
            </a:r>
          </a:p>
        </p:txBody>
      </p:sp>
      <p:sp>
        <p:nvSpPr>
          <p:cNvPr id="118" name="Shape 11"/>
          <p:cNvSpPr/>
          <p:nvPr/>
        </p:nvSpPr>
        <p:spPr>
          <a:xfrm>
            <a:off x="256031" y="2551176"/>
            <a:ext cx="4434842" cy="621793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19" name="Shape 12"/>
          <p:cNvSpPr/>
          <p:nvPr/>
        </p:nvSpPr>
        <p:spPr>
          <a:xfrm>
            <a:off x="256031" y="2551176"/>
            <a:ext cx="54865" cy="62179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0" name="Text 13"/>
          <p:cNvSpPr txBox="1"/>
          <p:nvPr/>
        </p:nvSpPr>
        <p:spPr>
          <a:xfrm>
            <a:off x="402335" y="2802680"/>
            <a:ext cx="41605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Join Matches — See open matches, join teams instantly</a:t>
            </a:r>
          </a:p>
        </p:txBody>
      </p:sp>
      <p:sp>
        <p:nvSpPr>
          <p:cNvPr id="121" name="Shape 14"/>
          <p:cNvSpPr/>
          <p:nvPr/>
        </p:nvSpPr>
        <p:spPr>
          <a:xfrm>
            <a:off x="256031" y="3300984"/>
            <a:ext cx="4434842" cy="621793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2" name="Shape 15"/>
          <p:cNvSpPr/>
          <p:nvPr/>
        </p:nvSpPr>
        <p:spPr>
          <a:xfrm>
            <a:off x="256031" y="3300984"/>
            <a:ext cx="54865" cy="62179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3" name="Text 16"/>
          <p:cNvSpPr txBox="1"/>
          <p:nvPr/>
        </p:nvSpPr>
        <p:spPr>
          <a:xfrm>
            <a:off x="402335" y="3552488"/>
            <a:ext cx="41605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Learn &amp; Train — Book certified trainers by sport &amp; city</a:t>
            </a:r>
          </a:p>
        </p:txBody>
      </p:sp>
      <p:sp>
        <p:nvSpPr>
          <p:cNvPr id="124" name="Shape 17"/>
          <p:cNvSpPr/>
          <p:nvPr/>
        </p:nvSpPr>
        <p:spPr>
          <a:xfrm>
            <a:off x="256031" y="4050791"/>
            <a:ext cx="4434842" cy="621793"/>
          </a:xfrm>
          <a:prstGeom prst="rect">
            <a:avLst/>
          </a:prstGeom>
          <a:solidFill>
            <a:srgbClr val="161B22"/>
          </a:solidFill>
          <a:ln w="12700">
            <a:solidFill>
              <a:srgbClr val="1E3A2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5" name="Shape 18"/>
          <p:cNvSpPr/>
          <p:nvPr/>
        </p:nvSpPr>
        <p:spPr>
          <a:xfrm>
            <a:off x="256031" y="4050791"/>
            <a:ext cx="54865" cy="62179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6" name="Text 19"/>
          <p:cNvSpPr txBox="1"/>
          <p:nvPr/>
        </p:nvSpPr>
        <p:spPr>
          <a:xfrm>
            <a:off x="402335" y="4302296"/>
            <a:ext cx="4160522" cy="13707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1000">
                <a:solidFill>
                  <a:srgbClr val="FFFFFF"/>
                </a:solidFill>
              </a:defRPr>
            </a:lvl1pPr>
          </a:lstStyle>
          <a:p>
            <a:pPr/>
            <a:r>
              <a:t>Smart Notifications — Real-time alerts, no missed games</a:t>
            </a:r>
          </a:p>
        </p:txBody>
      </p:sp>
      <p:sp>
        <p:nvSpPr>
          <p:cNvPr id="127" name="Shape 20"/>
          <p:cNvSpPr/>
          <p:nvPr/>
        </p:nvSpPr>
        <p:spPr>
          <a:xfrm>
            <a:off x="4919471" y="1051560"/>
            <a:ext cx="3968497" cy="1207009"/>
          </a:xfrm>
          <a:prstGeom prst="rect">
            <a:avLst/>
          </a:prstGeom>
          <a:solidFill>
            <a:srgbClr val="161B2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8" name="Shape 21"/>
          <p:cNvSpPr/>
          <p:nvPr/>
        </p:nvSpPr>
        <p:spPr>
          <a:xfrm>
            <a:off x="4919471" y="1051560"/>
            <a:ext cx="54865" cy="1207009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29" name="Text 22"/>
          <p:cNvSpPr txBox="1"/>
          <p:nvPr/>
        </p:nvSpPr>
        <p:spPr>
          <a:xfrm>
            <a:off x="5074920" y="1201350"/>
            <a:ext cx="3657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00C896"/>
                </a:solidFill>
              </a:defRPr>
            </a:lvl1pPr>
          </a:lstStyle>
          <a:p>
            <a:pPr/>
            <a:r>
              <a:t>User</a:t>
            </a:r>
          </a:p>
        </p:txBody>
      </p:sp>
      <p:sp>
        <p:nvSpPr>
          <p:cNvPr id="130" name="Text 23"/>
          <p:cNvSpPr txBox="1"/>
          <p:nvPr/>
        </p:nvSpPr>
        <p:spPr>
          <a:xfrm>
            <a:off x="5074920" y="1504696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  Book grounds &amp; slots</a:t>
            </a:r>
          </a:p>
        </p:txBody>
      </p:sp>
      <p:sp>
        <p:nvSpPr>
          <p:cNvPr id="131" name="Text 24"/>
          <p:cNvSpPr txBox="1"/>
          <p:nvPr/>
        </p:nvSpPr>
        <p:spPr>
          <a:xfrm>
            <a:off x="5074920" y="1751583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  Find players &amp; join matches</a:t>
            </a:r>
          </a:p>
        </p:txBody>
      </p:sp>
      <p:sp>
        <p:nvSpPr>
          <p:cNvPr id="132" name="Text 25"/>
          <p:cNvSpPr txBox="1"/>
          <p:nvPr/>
        </p:nvSpPr>
        <p:spPr>
          <a:xfrm>
            <a:off x="5074920" y="1998472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  Book trainers &amp; learn</a:t>
            </a:r>
          </a:p>
        </p:txBody>
      </p:sp>
      <p:sp>
        <p:nvSpPr>
          <p:cNvPr id="133" name="Shape 26"/>
          <p:cNvSpPr/>
          <p:nvPr/>
        </p:nvSpPr>
        <p:spPr>
          <a:xfrm>
            <a:off x="4919471" y="2386583"/>
            <a:ext cx="3968497" cy="1207009"/>
          </a:xfrm>
          <a:prstGeom prst="rect">
            <a:avLst/>
          </a:prstGeom>
          <a:solidFill>
            <a:srgbClr val="161B22"/>
          </a:solidFill>
          <a:ln w="12700">
            <a:solidFill>
              <a:srgbClr val="4A9E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4" name="Shape 27"/>
          <p:cNvSpPr/>
          <p:nvPr/>
        </p:nvSpPr>
        <p:spPr>
          <a:xfrm>
            <a:off x="4919471" y="2386583"/>
            <a:ext cx="54865" cy="1207009"/>
          </a:xfrm>
          <a:prstGeom prst="rect">
            <a:avLst/>
          </a:prstGeom>
          <a:solidFill>
            <a:srgbClr val="4A9EFF"/>
          </a:solidFill>
          <a:ln w="12700">
            <a:solidFill>
              <a:srgbClr val="4A9EFF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35" name="Text 28"/>
          <p:cNvSpPr txBox="1"/>
          <p:nvPr/>
        </p:nvSpPr>
        <p:spPr>
          <a:xfrm>
            <a:off x="5074920" y="2536375"/>
            <a:ext cx="3657601" cy="16676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4A9EFF"/>
                </a:solidFill>
              </a:defRPr>
            </a:lvl1pPr>
          </a:lstStyle>
          <a:p>
            <a:pPr/>
            <a:r>
              <a:t>Admin</a:t>
            </a:r>
          </a:p>
        </p:txBody>
      </p:sp>
      <p:sp>
        <p:nvSpPr>
          <p:cNvPr id="136" name="Text 29"/>
          <p:cNvSpPr txBox="1"/>
          <p:nvPr/>
        </p:nvSpPr>
        <p:spPr>
          <a:xfrm>
            <a:off x="5074920" y="2839720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  Manage grounds &amp; bookings</a:t>
            </a:r>
          </a:p>
        </p:txBody>
      </p:sp>
      <p:sp>
        <p:nvSpPr>
          <p:cNvPr id="137" name="Text 30"/>
          <p:cNvSpPr txBox="1"/>
          <p:nvPr/>
        </p:nvSpPr>
        <p:spPr>
          <a:xfrm>
            <a:off x="5074920" y="3086607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  Handle refunds &amp; cancellations</a:t>
            </a:r>
          </a:p>
        </p:txBody>
      </p:sp>
      <p:sp>
        <p:nvSpPr>
          <p:cNvPr id="138" name="Text 31"/>
          <p:cNvSpPr txBox="1"/>
          <p:nvPr/>
        </p:nvSpPr>
        <p:spPr>
          <a:xfrm>
            <a:off x="5074920" y="3333496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  View analytics &amp; revenue</a:t>
            </a:r>
          </a:p>
        </p:txBody>
      </p:sp>
      <p:sp>
        <p:nvSpPr>
          <p:cNvPr id="139" name="Shape 32"/>
          <p:cNvSpPr/>
          <p:nvPr/>
        </p:nvSpPr>
        <p:spPr>
          <a:xfrm>
            <a:off x="4919471" y="3721608"/>
            <a:ext cx="3968497" cy="1207009"/>
          </a:xfrm>
          <a:prstGeom prst="rect">
            <a:avLst/>
          </a:prstGeom>
          <a:solidFill>
            <a:srgbClr val="161B22"/>
          </a:solidFill>
          <a:ln w="12700">
            <a:solidFill>
              <a:srgbClr val="FFB5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0" name="Shape 33"/>
          <p:cNvSpPr/>
          <p:nvPr/>
        </p:nvSpPr>
        <p:spPr>
          <a:xfrm>
            <a:off x="4919471" y="3721608"/>
            <a:ext cx="54865" cy="1207009"/>
          </a:xfrm>
          <a:prstGeom prst="rect">
            <a:avLst/>
          </a:prstGeom>
          <a:solidFill>
            <a:srgbClr val="FFB547"/>
          </a:solidFill>
          <a:ln w="12700">
            <a:solidFill>
              <a:srgbClr val="FFB547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1" name="Text 34"/>
          <p:cNvSpPr txBox="1"/>
          <p:nvPr/>
        </p:nvSpPr>
        <p:spPr>
          <a:xfrm>
            <a:off x="5074920" y="3871398"/>
            <a:ext cx="3657601" cy="1667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b="1" sz="1300">
                <a:solidFill>
                  <a:srgbClr val="FFB547"/>
                </a:solidFill>
              </a:defRPr>
            </a:lvl1pPr>
          </a:lstStyle>
          <a:p>
            <a:pPr/>
            <a:r>
              <a:t>Trainer</a:t>
            </a:r>
          </a:p>
        </p:txBody>
      </p:sp>
      <p:sp>
        <p:nvSpPr>
          <p:cNvPr id="142" name="Text 35"/>
          <p:cNvSpPr txBox="1"/>
          <p:nvPr/>
        </p:nvSpPr>
        <p:spPr>
          <a:xfrm>
            <a:off x="5074920" y="4174744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  Create trainer profile</a:t>
            </a:r>
          </a:p>
        </p:txBody>
      </p:sp>
      <p:sp>
        <p:nvSpPr>
          <p:cNvPr id="143" name="Text 36"/>
          <p:cNvSpPr txBox="1"/>
          <p:nvPr/>
        </p:nvSpPr>
        <p:spPr>
          <a:xfrm>
            <a:off x="5074920" y="4421632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  Accept session bookings</a:t>
            </a:r>
          </a:p>
        </p:txBody>
      </p:sp>
      <p:sp>
        <p:nvSpPr>
          <p:cNvPr id="144" name="Text 37"/>
          <p:cNvSpPr txBox="1"/>
          <p:nvPr/>
        </p:nvSpPr>
        <p:spPr>
          <a:xfrm>
            <a:off x="5074920" y="4668520"/>
            <a:ext cx="3657601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>
              <a:defRPr sz="900">
                <a:solidFill>
                  <a:srgbClr val="A0ADB8"/>
                </a:solidFill>
              </a:defRPr>
            </a:lvl1pPr>
          </a:lstStyle>
          <a:p>
            <a:pPr/>
            <a:r>
              <a:t>  Track students &amp; sessions</a:t>
            </a:r>
          </a:p>
        </p:txBody>
      </p:sp>
      <p:sp>
        <p:nvSpPr>
          <p:cNvPr id="145" name="Shape 38"/>
          <p:cNvSpPr/>
          <p:nvPr/>
        </p:nvSpPr>
        <p:spPr>
          <a:xfrm>
            <a:off x="256032" y="4663440"/>
            <a:ext cx="8631936" cy="347473"/>
          </a:xfrm>
          <a:prstGeom prst="rect">
            <a:avLst/>
          </a:prstGeom>
          <a:solidFill>
            <a:srgbClr val="001A12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  <p:sp>
        <p:nvSpPr>
          <p:cNvPr id="146" name="Text 39"/>
          <p:cNvSpPr txBox="1"/>
          <p:nvPr/>
        </p:nvSpPr>
        <p:spPr>
          <a:xfrm>
            <a:off x="457200" y="4773675"/>
            <a:ext cx="8229600" cy="127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val="1"/>
            </a:ext>
          </a:extLst>
        </p:spPr>
        <p:txBody>
          <a:bodyPr lIns="0" tIns="0" rIns="0" bIns="0" anchor="ctr">
            <a:spAutoFit/>
          </a:bodyPr>
          <a:lstStyle>
            <a:lvl1pPr algn="ctr">
              <a:defRPr sz="900">
                <a:solidFill>
                  <a:srgbClr val="00C896"/>
                </a:solidFill>
              </a:defRPr>
            </a:lvl1pPr>
          </a:lstStyle>
          <a:p>
            <a:pPr/>
            <a:r>
              <a:t>SportsSync · Built for India's Sports Community · Hyderabad · Mumbai · Delhi · Bangalore</a:t>
            </a:r>
          </a:p>
        </p:txBody>
      </p:sp>
      <p:sp>
        <p:nvSpPr>
          <p:cNvPr id="147" name="Shape 40"/>
          <p:cNvSpPr/>
          <p:nvPr/>
        </p:nvSpPr>
        <p:spPr>
          <a:xfrm>
            <a:off x="0" y="5070347"/>
            <a:ext cx="9144000" cy="73153"/>
          </a:xfrm>
          <a:prstGeom prst="rect">
            <a:avLst/>
          </a:prstGeom>
          <a:solidFill>
            <a:srgbClr val="00C896"/>
          </a:solidFill>
          <a:ln w="12700">
            <a:solidFill>
              <a:srgbClr val="00C896"/>
            </a:solidFill>
          </a:ln>
        </p:spPr>
        <p:txBody>
          <a:bodyPr lIns="45719" rIns="45719"/>
          <a:lstStyle/>
          <a:p>
            <a:pPr/>
          </a:p>
        </p:txBody>
      </p:sp>
    </p:spTree>
  </p:cSld>
  <p:clrMapOvr>
    <a:masterClrMapping/>
  </p:clrMapOvr>
  <p:transition xmlns:p14="http://schemas.microsoft.com/office/powerpoint/2010/main" spd="med" advClick="1"/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 upright="0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b="0" baseline="0" cap="none" i="0" spc="0" strike="noStrike" sz="1800" u="none" kumimoji="0" normalizeH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/>
        <a:fillRef idx="0"/>
        <a:effectRef idx="0"/>
        <a:fontRef idx="none"/>
      </a:style>
    </a:txDef>
  </a:objectDefaults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/>
</file>